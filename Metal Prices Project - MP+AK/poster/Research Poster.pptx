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9834800" cy="31146750"/>
  <p:notesSz cx="31146750" cy="4983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Figure 1 uses World Bank Pink Sheet monthly prices via the project workbook Metal_Panel_Long; values are indexed to Jan. 2020 = 100.
- Figure 2 uses World Bank copper prices and LME/Westmetall copper stocks via Combined_Monthly_Wide.
- Figure 3 uses monthly log returns for aluminum, copper, gold, nickel, silver, and zinc from the project workbook; correlations are author calculations.
- Figure 4 uses LongTerm_Paths and MonteCarlo_Yearly_Percentiles from the project workbook; scenario assumptions were informed by IEA (2025), ICSG (2025a, 2025b), Silver Institute (2025a, 2025b, 2025c), and USGS (2026).
- Non-trivial claims on the poster about copper electrification exposure, silver's hybrid demand profile, and structural tightness are supported by IEA (2025), Silver Institute (2025), and USGS (2026).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907" y="409357"/>
            <a:ext cx="48054986" cy="7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Prices in Transition: Structural Tightness and the Long-Term Outlook for Copper and Silver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89907" y="1156879"/>
            <a:ext cx="48054986" cy="338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Amelia Kim and Mike Pelletier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559629" y="1530640"/>
            <a:ext cx="42715543" cy="30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price evidence, inventory signals, return correlations, and long-run uncertainty bands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067889" y="1939998"/>
            <a:ext cx="47699023" cy="5339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907" y="2420547"/>
            <a:ext cx="11435307" cy="387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907" y="2420547"/>
            <a:ext cx="106789" cy="387109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2476" y="2634125"/>
            <a:ext cx="1099035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92476" y="3043482"/>
            <a:ext cx="10945858" cy="3052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copper and silver entering a tighter long-run regime than other major metals?</a:t>
            </a:r>
            <a:endParaRPr lang="en-US" sz="2050" dirty="0"/>
          </a:p>
          <a:p>
            <a:pPr algn="l" indent="0" marL="0">
              <a:buNone/>
            </a:pP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separates three forces: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short-run macro conditions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physical-market tightening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structural demand tied to electrification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12903654" y="2420547"/>
            <a:ext cx="11435307" cy="387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3654" y="2420547"/>
            <a:ext cx="106789" cy="387109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06222" y="2634125"/>
            <a:ext cx="1099035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206222" y="3043482"/>
            <a:ext cx="10945858" cy="3052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Bank monthly prices for six metals, 2000–2026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FRED and OECD macro controls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LME copper stocks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IEA, ICSG, Silver Institute, and USGS structural inputs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24917400" y="2420547"/>
            <a:ext cx="11435307" cy="387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17400" y="2420547"/>
            <a:ext cx="106789" cy="387109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19968" y="2634125"/>
            <a:ext cx="1099035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5219968" y="3043482"/>
            <a:ext cx="10945858" cy="3052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indexed price paths across metals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 monthly return correlations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whether copper prices rise as exchange stocks fall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Extend the paper with scenario paths and a 10,000-draw Monte Carlo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36931146" y="2420547"/>
            <a:ext cx="11435307" cy="387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931146" y="2420547"/>
            <a:ext cx="106789" cy="387109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33715" y="2634125"/>
            <a:ext cx="1099035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7233715" y="3043482"/>
            <a:ext cx="10945858" cy="3052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Copper and silver pull away after 2020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Copper tightening shows up in inventories, not just price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Silver remains a hybrid metal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Long-run ranges widen over time, especially for silver</a:t>
            </a:r>
            <a:endParaRPr lang="en-US" sz="2050" dirty="0"/>
          </a:p>
        </p:txBody>
      </p:sp>
      <p:sp>
        <p:nvSpPr>
          <p:cNvPr id="22" name="Shape 20"/>
          <p:cNvSpPr/>
          <p:nvPr/>
        </p:nvSpPr>
        <p:spPr>
          <a:xfrm>
            <a:off x="889907" y="6781092"/>
            <a:ext cx="23582539" cy="1090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9907" y="6781092"/>
            <a:ext cx="23582539" cy="5339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5870" y="6976872"/>
            <a:ext cx="2669721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45870" y="7243844"/>
            <a:ext cx="22870614" cy="37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and silver pulled away after 2020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245870" y="7626504"/>
            <a:ext cx="22870614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prices, Jan. 2020 = 100</a:t>
            </a:r>
            <a:endParaRPr lang="en-US" sz="1350" dirty="0"/>
          </a:p>
        </p:txBody>
      </p:sp>
      <p:pic>
        <p:nvPicPr>
          <p:cNvPr id="27" name="Image 0" descr="/mnt/data/poster_new_figs/figure1_indexed_p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5375" y="8009164"/>
            <a:ext cx="19691604" cy="907705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45870" y="17290896"/>
            <a:ext cx="22870614" cy="21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Pink Sheet monthly prices; author calculations.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25362354" y="6781092"/>
            <a:ext cx="23582539" cy="1090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362354" y="6781092"/>
            <a:ext cx="23582539" cy="5339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718316" y="6976872"/>
            <a:ext cx="2669721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25718316" y="7243844"/>
            <a:ext cx="22870614" cy="37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rose as exchange stocks fell</a:t>
            </a:r>
            <a:endParaRPr lang="en-US" sz="1850" dirty="0"/>
          </a:p>
        </p:txBody>
      </p:sp>
      <p:sp>
        <p:nvSpPr>
          <p:cNvPr id="33" name="Text 30"/>
          <p:cNvSpPr/>
          <p:nvPr/>
        </p:nvSpPr>
        <p:spPr>
          <a:xfrm>
            <a:off x="25718316" y="7626504"/>
            <a:ext cx="22870614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data, 2020–2026</a:t>
            </a:r>
            <a:endParaRPr lang="en-US" sz="1350" dirty="0"/>
          </a:p>
        </p:txBody>
      </p:sp>
      <p:pic>
        <p:nvPicPr>
          <p:cNvPr id="34" name="Image 1" descr="/mnt/data/poster_new_figs/figure2_copper_st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5690" y="8009164"/>
            <a:ext cx="19275867" cy="907705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5718316" y="17290896"/>
            <a:ext cx="22870614" cy="21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Pink Sheet; LME/Westmetall; author calculations.</a:t>
            </a:r>
            <a:endParaRPr lang="en-US" sz="1120" dirty="0"/>
          </a:p>
        </p:txBody>
      </p:sp>
      <p:sp>
        <p:nvSpPr>
          <p:cNvPr id="36" name="Shape 32"/>
          <p:cNvSpPr/>
          <p:nvPr/>
        </p:nvSpPr>
        <p:spPr>
          <a:xfrm>
            <a:off x="889907" y="18198601"/>
            <a:ext cx="23582539" cy="1090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89907" y="18198601"/>
            <a:ext cx="23582539" cy="5339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245870" y="18394381"/>
            <a:ext cx="2669721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</a:t>
            </a:r>
            <a:endParaRPr lang="en-US" sz="1450" dirty="0"/>
          </a:p>
        </p:txBody>
      </p:sp>
      <p:sp>
        <p:nvSpPr>
          <p:cNvPr id="39" name="Text 35"/>
          <p:cNvSpPr/>
          <p:nvPr/>
        </p:nvSpPr>
        <p:spPr>
          <a:xfrm>
            <a:off x="1245870" y="18661353"/>
            <a:ext cx="22870614" cy="37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sits between precious and industrial metals</a:t>
            </a:r>
            <a:endParaRPr lang="en-US" sz="1850" dirty="0"/>
          </a:p>
        </p:txBody>
      </p:sp>
      <p:sp>
        <p:nvSpPr>
          <p:cNvPr id="40" name="Text 36"/>
          <p:cNvSpPr/>
          <p:nvPr/>
        </p:nvSpPr>
        <p:spPr>
          <a:xfrm>
            <a:off x="1245870" y="19044013"/>
            <a:ext cx="22870614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return correlations, 2010–2025</a:t>
            </a:r>
            <a:endParaRPr lang="en-US" sz="1350" dirty="0"/>
          </a:p>
        </p:txBody>
      </p:sp>
      <p:pic>
        <p:nvPicPr>
          <p:cNvPr id="41" name="Image 2" descr="/mnt/data/poster_new_figs/figure3_corr_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851" y="19426673"/>
            <a:ext cx="14252652" cy="9077053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245870" y="28708404"/>
            <a:ext cx="22870614" cy="21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Pink Sheet monthly returns; author calculations.</a:t>
            </a:r>
            <a:endParaRPr lang="en-US" sz="1120" dirty="0"/>
          </a:p>
        </p:txBody>
      </p:sp>
      <p:sp>
        <p:nvSpPr>
          <p:cNvPr id="43" name="Shape 38"/>
          <p:cNvSpPr/>
          <p:nvPr/>
        </p:nvSpPr>
        <p:spPr>
          <a:xfrm>
            <a:off x="25362354" y="18198601"/>
            <a:ext cx="23582539" cy="1090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5362354" y="18198601"/>
            <a:ext cx="23582539" cy="5339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718316" y="18394381"/>
            <a:ext cx="2669721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</a:t>
            </a:r>
            <a:endParaRPr lang="en-US" sz="1450" dirty="0"/>
          </a:p>
        </p:txBody>
      </p:sp>
      <p:sp>
        <p:nvSpPr>
          <p:cNvPr id="46" name="Text 41"/>
          <p:cNvSpPr/>
          <p:nvPr/>
        </p:nvSpPr>
        <p:spPr>
          <a:xfrm>
            <a:off x="25718316" y="18661353"/>
            <a:ext cx="22870614" cy="37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paths sit inside widening Monte Carlo ranges</a:t>
            </a:r>
            <a:endParaRPr lang="en-US" sz="1850" dirty="0"/>
          </a:p>
        </p:txBody>
      </p:sp>
      <p:sp>
        <p:nvSpPr>
          <p:cNvPr id="47" name="Text 42"/>
          <p:cNvSpPr/>
          <p:nvPr/>
        </p:nvSpPr>
        <p:spPr>
          <a:xfrm>
            <a:off x="25718316" y="19044013"/>
            <a:ext cx="22870614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 show Monte Carlo ranges; lines show scenario paths</a:t>
            </a:r>
            <a:endParaRPr lang="en-US" sz="1350" dirty="0"/>
          </a:p>
        </p:txBody>
      </p:sp>
      <p:pic>
        <p:nvPicPr>
          <p:cNvPr id="48" name="Image 3" descr="/mnt/data/poster_new_figs/figure4_mc_scenari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0222" y="19426673"/>
            <a:ext cx="19026802" cy="9077053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25718316" y="28708404"/>
            <a:ext cx="22870614" cy="21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structural model and 10,000-path Monte Carlo simulation.</a:t>
            </a:r>
            <a:endParaRPr lang="en-US" sz="1120" dirty="0"/>
          </a:p>
        </p:txBody>
      </p:sp>
      <p:sp>
        <p:nvSpPr>
          <p:cNvPr id="50" name="Shape 44"/>
          <p:cNvSpPr/>
          <p:nvPr/>
        </p:nvSpPr>
        <p:spPr>
          <a:xfrm>
            <a:off x="889907" y="29669504"/>
            <a:ext cx="48054986" cy="35596"/>
          </a:xfrm>
          <a:prstGeom prst="rect">
            <a:avLst/>
          </a:prstGeom>
          <a:solidFill>
            <a:srgbClr val="D5D9DF"/>
          </a:solidFill>
          <a:ln w="12700">
            <a:solidFill>
              <a:srgbClr val="D5D9DF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89907" y="29856385"/>
            <a:ext cx="48054986" cy="3203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sources: World Bank Pink Sheet (2026); FRED/OECD (2026); LME/Westmetall; IEA (2025); ICSG (2025a, 2025b); Silver Institute (2025a–2025c); USGS (2026).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 Prices in Transition: Structural Tightness and the Long-Term Outlook for Copper and Silver</dc:title>
  <dc:subject>Metal prices poster</dc:subject>
  <dc:creator>OpenAI</dc:creator>
  <cp:lastModifiedBy>OpenAI</cp:lastModifiedBy>
  <cp:revision>1</cp:revision>
  <dcterms:created xsi:type="dcterms:W3CDTF">2026-04-06T15:53:31Z</dcterms:created>
  <dcterms:modified xsi:type="dcterms:W3CDTF">2026-04-06T15:53:31Z</dcterms:modified>
</cp:coreProperties>
</file>